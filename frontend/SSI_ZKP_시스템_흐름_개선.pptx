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8" r:id="rId4"/>
    <p:sldId id="258" r:id="rId5"/>
    <p:sldId id="264" r:id="rId6"/>
    <p:sldId id="265" r:id="rId7"/>
    <p:sldId id="266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054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D793B-F296-8482-D58B-5E5126C3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353C0-EF71-F3EC-8281-9E43FA990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D721D-CF24-99D6-94FF-3CF1BED51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36496-0D5C-19DF-AC43-4DC3290F0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6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6AC4-568A-E210-B23E-2F1DC480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8C56A-C5C9-2406-F23C-E6A2CF15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3EF70-A132-BAE5-C54C-1ADA20607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F65B-9582-393A-D303-339D75DBF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10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E2C5-C00C-C236-75B7-62EC949E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DCF85-B146-7DB1-FB16-DA1B5E2CC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DBC51-204B-6917-F99E-FFCCECBE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8724C-432C-7D37-383D-8E1115104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17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DBE1-FA5A-0853-612C-70859F04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DEF62-A586-A41E-B7B5-B12384051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86397-6BB4-4676-7025-79B721447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F6383-ED2C-EAF2-F3F2-03DA99533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4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 ZKP 시스템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2004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상호작용 흐름 아키텍처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주권 신원 (SSI) · 영지식 증명 (ZK) · Aleo 블록체인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4297680"/>
            <a:ext cx="4114800" cy="91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4343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나이를 노출하지 않고 성인 여부를 증명하는 프라이버시 보존 시스템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목표</a:t>
            </a:r>
            <a:endParaRPr lang="en-US" sz="2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E2454D-46D2-9868-4B70-7FAFEC479AD4}"/>
              </a:ext>
            </a:extLst>
          </p:cNvPr>
          <p:cNvSpPr txBox="1"/>
          <p:nvPr/>
        </p:nvSpPr>
        <p:spPr>
          <a:xfrm>
            <a:off x="790303" y="911389"/>
            <a:ext cx="69102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ko-KR" altLang="en-US" b="0" i="0" dirty="0">
                <a:effectLst/>
                <a:latin typeface="Segoe WPC"/>
              </a:rPr>
              <a:t>사용자는 </a:t>
            </a:r>
            <a:r>
              <a:rPr lang="en-US" altLang="ko-KR" b="0" i="0" dirty="0">
                <a:effectLst/>
                <a:latin typeface="Segoe WPC"/>
              </a:rPr>
              <a:t>VC</a:t>
            </a:r>
            <a:r>
              <a:rPr lang="ko-KR" altLang="en-US" b="0" i="0" dirty="0">
                <a:effectLst/>
                <a:latin typeface="Segoe WPC"/>
              </a:rPr>
              <a:t>를 자신의 지갑에 보관하고</a:t>
            </a:r>
            <a:r>
              <a:rPr lang="en-US" altLang="ko-KR" b="0" i="0" dirty="0">
                <a:effectLst/>
                <a:latin typeface="Segoe WPC"/>
              </a:rPr>
              <a:t>, </a:t>
            </a:r>
            <a:r>
              <a:rPr lang="ko-KR" altLang="en-US" b="0" i="0" dirty="0">
                <a:effectLst/>
                <a:latin typeface="Segoe WPC"/>
              </a:rPr>
              <a:t>인증 시 공유할 개인정보를 직접 선택</a:t>
            </a:r>
            <a:r>
              <a:rPr lang="en-US" altLang="ko-KR" b="0" i="0" dirty="0">
                <a:effectLst/>
                <a:latin typeface="Segoe WPC"/>
              </a:rPr>
              <a:t>·</a:t>
            </a:r>
            <a:r>
              <a:rPr lang="ko-KR" altLang="en-US" b="0" i="0" dirty="0">
                <a:effectLst/>
                <a:latin typeface="Segoe WPC"/>
              </a:rPr>
              <a:t>관리하며</a:t>
            </a:r>
            <a:r>
              <a:rPr lang="en-US" altLang="ko-KR" b="0" i="0" dirty="0">
                <a:effectLst/>
                <a:latin typeface="Segoe WPC"/>
              </a:rPr>
              <a:t>, </a:t>
            </a:r>
            <a:r>
              <a:rPr lang="ko-KR" altLang="en-US" b="0" i="0" dirty="0">
                <a:effectLst/>
                <a:latin typeface="Segoe WPC"/>
              </a:rPr>
              <a:t>실제 나이를 공개하지 않고 영지식증명</a:t>
            </a:r>
            <a:r>
              <a:rPr lang="en-US" altLang="ko-KR" b="0" i="0" dirty="0">
                <a:effectLst/>
                <a:latin typeface="Segoe WPC"/>
              </a:rPr>
              <a:t>(ZKP)</a:t>
            </a:r>
            <a:r>
              <a:rPr lang="ko-KR" altLang="en-US" b="0" i="0" dirty="0">
                <a:effectLst/>
                <a:latin typeface="Segoe WPC"/>
              </a:rPr>
              <a:t>으로 성인 여부만 검증할 수 있도록 합니다</a:t>
            </a:r>
            <a:r>
              <a:rPr lang="en-US" altLang="ko-KR" b="0" i="0" dirty="0">
                <a:effectLst/>
                <a:latin typeface="Segoe WPC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579FE-BE8E-F6AE-9D80-2DAB9699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CBF3A7-B708-FE76-229A-E20498C8F1F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4DF8A2-C2E8-6573-071D-2FD603C26481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액터 개요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777895-2E15-441A-40FF-635D7D9C15D0}"/>
              </a:ext>
            </a:extLst>
          </p:cNvPr>
          <p:cNvSpPr/>
          <p:nvPr/>
        </p:nvSpPr>
        <p:spPr>
          <a:xfrm>
            <a:off x="91440" y="777240"/>
            <a:ext cx="166420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B41593-8BF3-6F22-11F2-453E1B86A399}"/>
              </a:ext>
            </a:extLst>
          </p:cNvPr>
          <p:cNvSpPr/>
          <p:nvPr/>
        </p:nvSpPr>
        <p:spPr>
          <a:xfrm>
            <a:off x="91440" y="777240"/>
            <a:ext cx="1664208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AB989F8-7A35-94F5-82E9-34AEC0579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960120"/>
            <a:ext cx="502920" cy="5029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BD7607F-F5C5-EE2F-4400-0F7A7BE9CDCA}"/>
              </a:ext>
            </a:extLst>
          </p:cNvPr>
          <p:cNvSpPr/>
          <p:nvPr/>
        </p:nvSpPr>
        <p:spPr>
          <a:xfrm>
            <a:off x="91440" y="15087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보유자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4CDF9F-2582-7B20-E7B8-D84C09149CF9}"/>
              </a:ext>
            </a:extLst>
          </p:cNvPr>
          <p:cNvSpPr/>
          <p:nvPr/>
        </p:nvSpPr>
        <p:spPr>
          <a:xfrm>
            <a:off x="91440" y="18105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/ 지갑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D3C75C7-5C5A-FC4B-EAB9-3D73623FE975}"/>
              </a:ext>
            </a:extLst>
          </p:cNvPr>
          <p:cNvSpPr/>
          <p:nvPr/>
        </p:nvSpPr>
        <p:spPr>
          <a:xfrm>
            <a:off x="182880" y="2194560"/>
            <a:ext cx="14813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사용자가 브라우저 또는 지갑을 통해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Credential (VC)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발급을 요청</a:t>
            </a:r>
            <a:endParaRPr lang="en-US" sz="1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0C977D8-F32C-FA97-D6DF-509A40D375E6}"/>
              </a:ext>
            </a:extLst>
          </p:cNvPr>
          <p:cNvSpPr/>
          <p:nvPr/>
        </p:nvSpPr>
        <p:spPr>
          <a:xfrm>
            <a:off x="182880" y="4480560"/>
            <a:ext cx="1481328" cy="914"/>
          </a:xfrm>
          <a:prstGeom prst="rect">
            <a:avLst/>
          </a:prstGeom>
          <a:solidFill>
            <a:srgbClr val="B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378276-2400-7300-8245-69E9663C56FE}"/>
              </a:ext>
            </a:extLst>
          </p:cNvPr>
          <p:cNvSpPr/>
          <p:nvPr/>
        </p:nvSpPr>
        <p:spPr>
          <a:xfrm>
            <a:off x="91440" y="44988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FBF59EB-39BB-97D3-7918-BE4CE0F4AD37}"/>
              </a:ext>
            </a:extLst>
          </p:cNvPr>
          <p:cNvSpPr/>
          <p:nvPr/>
        </p:nvSpPr>
        <p:spPr>
          <a:xfrm>
            <a:off x="1801368" y="777240"/>
            <a:ext cx="166420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E39AD13-B97A-0E4C-68FC-BA3036CA1ACB}"/>
              </a:ext>
            </a:extLst>
          </p:cNvPr>
          <p:cNvSpPr/>
          <p:nvPr/>
        </p:nvSpPr>
        <p:spPr>
          <a:xfrm>
            <a:off x="1801368" y="777240"/>
            <a:ext cx="1664208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F3692D28-2D83-993E-85D7-7FEC03E7B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960120"/>
            <a:ext cx="502920" cy="5029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C0251807-E85C-7FDE-7FC1-4803FF57C488}"/>
              </a:ext>
            </a:extLst>
          </p:cNvPr>
          <p:cNvSpPr/>
          <p:nvPr/>
        </p:nvSpPr>
        <p:spPr>
          <a:xfrm>
            <a:off x="1801368" y="15087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발급자 UI</a:t>
            </a:r>
            <a:endParaRPr lang="en-US" sz="13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BCEF2A3-700F-341D-A012-90EFDCC64355}"/>
              </a:ext>
            </a:extLst>
          </p:cNvPr>
          <p:cNvSpPr/>
          <p:nvPr/>
        </p:nvSpPr>
        <p:spPr>
          <a:xfrm>
            <a:off x="1801368" y="18105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5415A4F-F8CD-FA0F-FC0F-2A2113A86E87}"/>
              </a:ext>
            </a:extLst>
          </p:cNvPr>
          <p:cNvSpPr/>
          <p:nvPr/>
        </p:nvSpPr>
        <p:spPr>
          <a:xfrm>
            <a:off x="1892808" y="2194560"/>
            <a:ext cx="14813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Credential (VC) 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</a:t>
            </a:r>
            <a:endParaRPr lang="en-US" sz="10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FD7BF2E-7E1C-8D00-9A18-89F21FCBE592}"/>
              </a:ext>
            </a:extLst>
          </p:cNvPr>
          <p:cNvSpPr/>
          <p:nvPr/>
        </p:nvSpPr>
        <p:spPr>
          <a:xfrm>
            <a:off x="1892808" y="4480560"/>
            <a:ext cx="1481328" cy="914"/>
          </a:xfrm>
          <a:prstGeom prst="rect">
            <a:avLst/>
          </a:prstGeom>
          <a:solidFill>
            <a:srgbClr val="B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946E222-ECA8-9B67-56EF-8761BA6244DE}"/>
              </a:ext>
            </a:extLst>
          </p:cNvPr>
          <p:cNvSpPr/>
          <p:nvPr/>
        </p:nvSpPr>
        <p:spPr>
          <a:xfrm>
            <a:off x="1801368" y="44988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0F82177A-387B-49FE-D70D-2F3F562573A0}"/>
              </a:ext>
            </a:extLst>
          </p:cNvPr>
          <p:cNvSpPr/>
          <p:nvPr/>
        </p:nvSpPr>
        <p:spPr>
          <a:xfrm>
            <a:off x="3511296" y="777240"/>
            <a:ext cx="166420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7CF945B-0813-CF6B-1F70-68280BF5B76C}"/>
              </a:ext>
            </a:extLst>
          </p:cNvPr>
          <p:cNvSpPr/>
          <p:nvPr/>
        </p:nvSpPr>
        <p:spPr>
          <a:xfrm>
            <a:off x="3511296" y="777240"/>
            <a:ext cx="1664208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DABCDDF8-94D6-584E-2661-EF56A3AEA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960120"/>
            <a:ext cx="502920" cy="502920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43A5FEA1-661E-E4B0-669F-61585A53025D}"/>
              </a:ext>
            </a:extLst>
          </p:cNvPr>
          <p:cNvSpPr/>
          <p:nvPr/>
        </p:nvSpPr>
        <p:spPr>
          <a:xfrm>
            <a:off x="3511296" y="15087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백엔드</a:t>
            </a:r>
            <a:endParaRPr lang="en-US" sz="13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2E020CE-BE9C-8F26-AEB1-25AB5E7BDACE}"/>
              </a:ext>
            </a:extLst>
          </p:cNvPr>
          <p:cNvSpPr/>
          <p:nvPr/>
        </p:nvSpPr>
        <p:spPr>
          <a:xfrm>
            <a:off x="3511296" y="18105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레지스트리 + JWT</a:t>
            </a:r>
            <a:endParaRPr lang="en-US" sz="10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BEA9C2DA-552A-9B91-A112-D766844967CF}"/>
              </a:ext>
            </a:extLst>
          </p:cNvPr>
          <p:cNvSpPr/>
          <p:nvPr/>
        </p:nvSpPr>
        <p:spPr>
          <a:xfrm>
            <a:off x="3602736" y="2194560"/>
            <a:ext cx="14813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실제 개인정보를 확인하지 않고</a:t>
            </a:r>
            <a:r>
              <a:rPr lang="en-US" altLang="ko-KR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서명과 커밋먼트 정보만 검증 </a:t>
            </a:r>
            <a:endParaRPr lang="en-US" altLang="ko-KR" sz="1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</a:t>
            </a:r>
            <a:endParaRPr lang="en-US" sz="10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6921DED-52CC-21FA-D6DA-74148388C244}"/>
              </a:ext>
            </a:extLst>
          </p:cNvPr>
          <p:cNvSpPr/>
          <p:nvPr/>
        </p:nvSpPr>
        <p:spPr>
          <a:xfrm>
            <a:off x="3602736" y="4480560"/>
            <a:ext cx="1481328" cy="914"/>
          </a:xfrm>
          <a:prstGeom prst="rect">
            <a:avLst/>
          </a:prstGeom>
          <a:solidFill>
            <a:srgbClr val="B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D2C9A14-D87F-5751-6537-AF02A559317F}"/>
              </a:ext>
            </a:extLst>
          </p:cNvPr>
          <p:cNvSpPr/>
          <p:nvPr/>
        </p:nvSpPr>
        <p:spPr>
          <a:xfrm>
            <a:off x="3511296" y="44988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D76B4AC2-3DF0-8A16-E3F0-D7AEAA502C27}"/>
              </a:ext>
            </a:extLst>
          </p:cNvPr>
          <p:cNvSpPr/>
          <p:nvPr/>
        </p:nvSpPr>
        <p:spPr>
          <a:xfrm>
            <a:off x="5221224" y="777240"/>
            <a:ext cx="166420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30C25602-A40C-F175-3F21-4EAF24A6D82E}"/>
              </a:ext>
            </a:extLst>
          </p:cNvPr>
          <p:cNvSpPr/>
          <p:nvPr/>
        </p:nvSpPr>
        <p:spPr>
          <a:xfrm>
            <a:off x="5221224" y="777240"/>
            <a:ext cx="1664208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C1E8E6DC-4758-DC1F-1DCA-66209ED05C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960120"/>
            <a:ext cx="502920" cy="502920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25E38B39-B96E-88EF-A3C8-05E1DF2376E0}"/>
              </a:ext>
            </a:extLst>
          </p:cNvPr>
          <p:cNvSpPr/>
          <p:nvPr/>
        </p:nvSpPr>
        <p:spPr>
          <a:xfrm>
            <a:off x="5221224" y="15087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백엔드</a:t>
            </a:r>
            <a:endParaRPr lang="en-US" sz="13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E3039888-9DAD-1C0B-FC44-11A4D0F795A3}"/>
              </a:ext>
            </a:extLst>
          </p:cNvPr>
          <p:cNvSpPr/>
          <p:nvPr/>
        </p:nvSpPr>
        <p:spPr>
          <a:xfrm>
            <a:off x="5221224" y="18105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검증자</a:t>
            </a:r>
            <a:endParaRPr lang="en-US" sz="10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96A3E306-E518-1432-772E-922404F68760}"/>
              </a:ext>
            </a:extLst>
          </p:cNvPr>
          <p:cNvSpPr/>
          <p:nvPr/>
        </p:nvSpPr>
        <p:spPr>
          <a:xfrm>
            <a:off x="5312664" y="2194560"/>
            <a:ext cx="14813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콘텐츠 제공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성인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/미성년 분기</a:t>
            </a:r>
            <a:endParaRPr lang="en-US" sz="10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D169469A-2705-3BC4-A421-4C5405579625}"/>
              </a:ext>
            </a:extLst>
          </p:cNvPr>
          <p:cNvSpPr/>
          <p:nvPr/>
        </p:nvSpPr>
        <p:spPr>
          <a:xfrm>
            <a:off x="5312664" y="4480560"/>
            <a:ext cx="1481328" cy="914"/>
          </a:xfrm>
          <a:prstGeom prst="rect">
            <a:avLst/>
          </a:prstGeom>
          <a:solidFill>
            <a:srgbClr val="B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04573F06-6FEF-B9FB-BEE6-2F1CE6652805}"/>
              </a:ext>
            </a:extLst>
          </p:cNvPr>
          <p:cNvSpPr/>
          <p:nvPr/>
        </p:nvSpPr>
        <p:spPr>
          <a:xfrm>
            <a:off x="5221224" y="44988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C631CFD5-2EB1-DEC5-6335-A7E8535ABB7A}"/>
              </a:ext>
            </a:extLst>
          </p:cNvPr>
          <p:cNvSpPr/>
          <p:nvPr/>
        </p:nvSpPr>
        <p:spPr>
          <a:xfrm>
            <a:off x="6931152" y="777240"/>
            <a:ext cx="1664208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E160B25B-9ECC-8EBD-2A59-2CC2F6D9FE06}"/>
              </a:ext>
            </a:extLst>
          </p:cNvPr>
          <p:cNvSpPr/>
          <p:nvPr/>
        </p:nvSpPr>
        <p:spPr>
          <a:xfrm>
            <a:off x="6931152" y="777240"/>
            <a:ext cx="1664208" cy="73152"/>
          </a:xfrm>
          <a:prstGeom prst="rect">
            <a:avLst/>
          </a:prstGeom>
          <a:solidFill>
            <a:srgbClr val="5E60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4A4BCE4D-5FBD-2C43-B5E1-3E13CF35B6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4" y="960120"/>
            <a:ext cx="502920" cy="502920"/>
          </a:xfrm>
          <a:prstGeom prst="rect">
            <a:avLst/>
          </a:prstGeom>
        </p:spPr>
      </p:pic>
      <p:sp>
        <p:nvSpPr>
          <p:cNvPr id="39" name="Text 32">
            <a:extLst>
              <a:ext uri="{FF2B5EF4-FFF2-40B4-BE49-F238E27FC236}">
                <a16:creationId xmlns:a16="http://schemas.microsoft.com/office/drawing/2014/main" id="{AB154DEA-41AF-6007-4509-CE48DDD098B8}"/>
              </a:ext>
            </a:extLst>
          </p:cNvPr>
          <p:cNvSpPr/>
          <p:nvPr/>
        </p:nvSpPr>
        <p:spPr>
          <a:xfrm>
            <a:off x="6931152" y="15087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Aleo / 증명자</a:t>
            </a:r>
            <a:endParaRPr lang="en-US" sz="1300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46FB15F9-8468-7FE8-3DA0-BDD860829D4D}"/>
              </a:ext>
            </a:extLst>
          </p:cNvPr>
          <p:cNvSpPr/>
          <p:nvPr/>
        </p:nvSpPr>
        <p:spPr>
          <a:xfrm>
            <a:off x="6931152" y="18105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i="1" dirty="0">
                <a:solidFill>
                  <a:srgbClr val="7A9BB5"/>
                </a:solidFill>
                <a:latin typeface="Calibri" pitchFamily="34" charset="0"/>
                <a:cs typeface="Calibri" pitchFamily="34" charset="-120"/>
              </a:rPr>
              <a:t>영지식</a:t>
            </a: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회로</a:t>
            </a:r>
            <a:endParaRPr lang="en-US" sz="1000" dirty="0"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FF1A9113-AE40-5CFE-BF2A-4323F5B9A127}"/>
              </a:ext>
            </a:extLst>
          </p:cNvPr>
          <p:cNvSpPr/>
          <p:nvPr/>
        </p:nvSpPr>
        <p:spPr>
          <a:xfrm>
            <a:off x="7022592" y="2194560"/>
            <a:ext cx="14813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o-KR" altLang="en-US" sz="1000" dirty="0"/>
              <a:t>영지식 증명 생성</a:t>
            </a:r>
            <a:endParaRPr lang="en-US" sz="100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F4108A7F-3B4F-60BD-A646-29D51AE91A61}"/>
              </a:ext>
            </a:extLst>
          </p:cNvPr>
          <p:cNvSpPr/>
          <p:nvPr/>
        </p:nvSpPr>
        <p:spPr>
          <a:xfrm>
            <a:off x="7022592" y="4480560"/>
            <a:ext cx="1481328" cy="914"/>
          </a:xfrm>
          <a:prstGeom prst="rect">
            <a:avLst/>
          </a:prstGeom>
          <a:solidFill>
            <a:srgbClr val="B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4F073F81-327C-F976-1848-12633A566D10}"/>
              </a:ext>
            </a:extLst>
          </p:cNvPr>
          <p:cNvSpPr/>
          <p:nvPr/>
        </p:nvSpPr>
        <p:spPr>
          <a:xfrm>
            <a:off x="6931152" y="44988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0030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— </a:t>
            </a: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자격증명 발급</a:t>
            </a:r>
            <a:endParaRPr lang="en-US" sz="2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8961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16093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23225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34840" y="30358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34840" y="37490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0" name="StepBadge"/>
          <p:cNvSpPr/>
          <p:nvPr/>
        </p:nvSpPr>
        <p:spPr>
          <a:xfrm>
            <a:off x="7772400" y="1371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1AFFDA-5CDF-0F87-185C-2D212C157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59612"/>
            <a:ext cx="8503920" cy="3950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3D6CB-75F3-F8FD-8432-38002A50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D2729D-5EBC-C90B-04CE-3603963C5C8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58764A-DDE1-AC05-6BB6-8B11BED779E0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— </a:t>
            </a: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인증</a:t>
            </a:r>
            <a:endParaRPr lang="en-US" sz="2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F87010-8C01-9E7E-0AB3-594DBAE0A21F}"/>
              </a:ext>
            </a:extLst>
          </p:cNvPr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DF1C74-F01F-7F24-BA55-DEEBC2EFB85A}"/>
              </a:ext>
            </a:extLst>
          </p:cNvPr>
          <p:cNvSpPr/>
          <p:nvPr/>
        </p:nvSpPr>
        <p:spPr>
          <a:xfrm>
            <a:off x="4434840" y="8961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667140-6E0B-3226-D26C-777070C33C59}"/>
              </a:ext>
            </a:extLst>
          </p:cNvPr>
          <p:cNvSpPr/>
          <p:nvPr/>
        </p:nvSpPr>
        <p:spPr>
          <a:xfrm>
            <a:off x="4434840" y="16093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836B50E-A456-D406-D2C3-CA4D8163684A}"/>
              </a:ext>
            </a:extLst>
          </p:cNvPr>
          <p:cNvSpPr/>
          <p:nvPr/>
        </p:nvSpPr>
        <p:spPr>
          <a:xfrm>
            <a:off x="4434840" y="23225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494A2F0-25FD-836F-CF96-954C120D43E6}"/>
              </a:ext>
            </a:extLst>
          </p:cNvPr>
          <p:cNvSpPr/>
          <p:nvPr/>
        </p:nvSpPr>
        <p:spPr>
          <a:xfrm>
            <a:off x="4434840" y="30358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F6F5D76-4796-56E5-6FD5-C74BA924A918}"/>
              </a:ext>
            </a:extLst>
          </p:cNvPr>
          <p:cNvSpPr/>
          <p:nvPr/>
        </p:nvSpPr>
        <p:spPr>
          <a:xfrm>
            <a:off x="4434840" y="37490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0" name="StepBadge"/>
          <p:cNvSpPr/>
          <p:nvPr/>
        </p:nvSpPr>
        <p:spPr>
          <a:xfrm>
            <a:off x="7772400" y="1371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0CBE6-F70B-4A0D-3E55-20C1C384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0" y="1152327"/>
            <a:ext cx="8849960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5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553F5-D30F-E76F-83A8-E84A5371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720F6E-FF64-D20B-3888-EF071582886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D2B28D-1F7C-F380-56A1-23C2C553B155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— </a:t>
            </a: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영지식 증명 생성</a:t>
            </a:r>
            <a:endParaRPr lang="en-US" sz="22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DF7076-E1CF-63C9-FB2B-E8D1A67297B4}"/>
              </a:ext>
            </a:extLst>
          </p:cNvPr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3E111DA-65C1-54B9-961D-2EEE3009EC4D}"/>
              </a:ext>
            </a:extLst>
          </p:cNvPr>
          <p:cNvSpPr/>
          <p:nvPr/>
        </p:nvSpPr>
        <p:spPr>
          <a:xfrm>
            <a:off x="4434840" y="8961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6CA1BC-E0FF-8E28-6EEE-1FC3CD3F466B}"/>
              </a:ext>
            </a:extLst>
          </p:cNvPr>
          <p:cNvSpPr/>
          <p:nvPr/>
        </p:nvSpPr>
        <p:spPr>
          <a:xfrm>
            <a:off x="4434840" y="16093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A312FD1-D2D2-D943-ED0F-BA0A28471EFA}"/>
              </a:ext>
            </a:extLst>
          </p:cNvPr>
          <p:cNvSpPr/>
          <p:nvPr/>
        </p:nvSpPr>
        <p:spPr>
          <a:xfrm>
            <a:off x="4434840" y="23225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C043442-1300-FAB3-87C3-6D9C1CFEBD69}"/>
              </a:ext>
            </a:extLst>
          </p:cNvPr>
          <p:cNvSpPr/>
          <p:nvPr/>
        </p:nvSpPr>
        <p:spPr>
          <a:xfrm>
            <a:off x="4434840" y="30358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B9F29D8-894E-A2A1-D269-FE7856BDC127}"/>
              </a:ext>
            </a:extLst>
          </p:cNvPr>
          <p:cNvSpPr/>
          <p:nvPr/>
        </p:nvSpPr>
        <p:spPr>
          <a:xfrm>
            <a:off x="4434840" y="37490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0" name="StepBadge"/>
          <p:cNvSpPr/>
          <p:nvPr/>
        </p:nvSpPr>
        <p:spPr>
          <a:xfrm>
            <a:off x="7772400" y="1371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2AAC3-6EF7-11CD-4D16-0D2F40FB9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4" y="1209485"/>
            <a:ext cx="9078592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67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71144-19ED-076D-5312-B1D6756C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67CE56-2789-197B-6FAD-CC3D6BDCF66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3C08A0-02D7-1167-F3EA-419A250C9A43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- </a:t>
            </a: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콘텐츠 접근</a:t>
            </a:r>
            <a:endParaRPr lang="en-US" sz="22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1CE288-B452-2BA1-9F5B-A5C5B2D309E8}"/>
              </a:ext>
            </a:extLst>
          </p:cNvPr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382F6A-E838-D3DF-D0DB-027E2E5C2B3C}"/>
              </a:ext>
            </a:extLst>
          </p:cNvPr>
          <p:cNvSpPr/>
          <p:nvPr/>
        </p:nvSpPr>
        <p:spPr>
          <a:xfrm>
            <a:off x="4434840" y="8961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B40B0DF-AAAC-03CE-1005-91E0E604BECD}"/>
              </a:ext>
            </a:extLst>
          </p:cNvPr>
          <p:cNvSpPr/>
          <p:nvPr/>
        </p:nvSpPr>
        <p:spPr>
          <a:xfrm>
            <a:off x="4434840" y="16093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AA5331-5086-0D3B-2EBB-25C71B6C779B}"/>
              </a:ext>
            </a:extLst>
          </p:cNvPr>
          <p:cNvSpPr/>
          <p:nvPr/>
        </p:nvSpPr>
        <p:spPr>
          <a:xfrm>
            <a:off x="4434840" y="23225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81B0143-BD77-B04F-5FE0-F53F056DE136}"/>
              </a:ext>
            </a:extLst>
          </p:cNvPr>
          <p:cNvSpPr/>
          <p:nvPr/>
        </p:nvSpPr>
        <p:spPr>
          <a:xfrm>
            <a:off x="4434840" y="30358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2C116B1-DF0E-3C7B-E454-8D7C232D6AED}"/>
              </a:ext>
            </a:extLst>
          </p:cNvPr>
          <p:cNvSpPr/>
          <p:nvPr/>
        </p:nvSpPr>
        <p:spPr>
          <a:xfrm>
            <a:off x="4434840" y="37490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0" name="StepBadge"/>
          <p:cNvSpPr/>
          <p:nvPr/>
        </p:nvSpPr>
        <p:spPr>
          <a:xfrm>
            <a:off x="7772400" y="1371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890CDA-1CE6-83D6-8D62-46098A30E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3" y="957037"/>
            <a:ext cx="9021434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11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설계 원칙 요약</a:t>
            </a:r>
            <a:endParaRPr lang="en-US" sz="3200" dirty="0"/>
          </a:p>
        </p:txBody>
      </p:sp>
      <p:sp>
        <p:nvSpPr>
          <p:cNvPr id="50" name="Card1Bg"/>
          <p:cNvSpPr/>
          <p:nvPr/>
        </p:nvSpPr>
        <p:spPr>
          <a:xfrm>
            <a:off x="320040" y="2103120"/>
            <a:ext cx="640080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028090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ard1Accent"/>
          <p:cNvSpPr/>
          <p:nvPr/>
        </p:nvSpPr>
        <p:spPr>
          <a:xfrm>
            <a:off x="320040" y="2103120"/>
            <a:ext cx="685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Card1Text"/>
          <p:cNvSpPr/>
          <p:nvPr/>
        </p:nvSpPr>
        <p:spPr>
          <a:xfrm>
            <a:off x="480120" y="2103120"/>
            <a:ext cx="6240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나이는 기기 밖으로 절대 전송되지 않음</a:t>
            </a:r>
            <a:endParaRPr lang="en-US" sz="1400" dirty="0"/>
          </a:p>
        </p:txBody>
      </p:sp>
      <p:sp>
        <p:nvSpPr>
          <p:cNvPr id="53" name="Card2Bg"/>
          <p:cNvSpPr/>
          <p:nvPr/>
        </p:nvSpPr>
        <p:spPr>
          <a:xfrm>
            <a:off x="320040" y="2617200"/>
            <a:ext cx="640080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028090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Card2Accent"/>
          <p:cNvSpPr/>
          <p:nvPr/>
        </p:nvSpPr>
        <p:spPr>
          <a:xfrm>
            <a:off x="320040" y="2617200"/>
            <a:ext cx="685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Card2Text"/>
          <p:cNvSpPr/>
          <p:nvPr/>
        </p:nvSpPr>
        <p:spPr>
          <a:xfrm>
            <a:off x="480120" y="2617200"/>
            <a:ext cx="6240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400" dirty="0">
                <a:solidFill>
                  <a:schemeClr val="bg2"/>
                </a:solidFill>
              </a:rPr>
              <a:t>영지식 증명을 통해 나이 정보를 인증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6" name="Card3Bg"/>
          <p:cNvSpPr/>
          <p:nvPr/>
        </p:nvSpPr>
        <p:spPr>
          <a:xfrm>
            <a:off x="320040" y="3131280"/>
            <a:ext cx="640080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028090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Card3Accent"/>
          <p:cNvSpPr/>
          <p:nvPr/>
        </p:nvSpPr>
        <p:spPr>
          <a:xfrm>
            <a:off x="320040" y="3131280"/>
            <a:ext cx="685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Card3Text"/>
          <p:cNvSpPr/>
          <p:nvPr/>
        </p:nvSpPr>
        <p:spPr>
          <a:xfrm>
            <a:off x="480120" y="3131280"/>
            <a:ext cx="6240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400" dirty="0">
                <a:solidFill>
                  <a:schemeClr val="bg2"/>
                </a:solidFill>
              </a:rPr>
              <a:t>로그인 시 서버는 사용자의 실제 개인정보를 확인하지 않고</a:t>
            </a:r>
            <a:r>
              <a:rPr lang="en-US" altLang="ko-KR" sz="1400" dirty="0">
                <a:solidFill>
                  <a:schemeClr val="bg2"/>
                </a:solidFill>
              </a:rPr>
              <a:t>, </a:t>
            </a:r>
            <a:r>
              <a:rPr lang="ko-KR" altLang="en-US" sz="1400" dirty="0">
                <a:solidFill>
                  <a:schemeClr val="bg2"/>
                </a:solidFill>
              </a:rPr>
              <a:t>서명과 커밋먼트 정보만 검증</a:t>
            </a:r>
            <a:r>
              <a:rPr lang="en-US" altLang="ko-KR" sz="1400" dirty="0">
                <a:solidFill>
                  <a:schemeClr val="bg2"/>
                </a:solidFill>
              </a:rPr>
              <a:t>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9" name="Card4Bg"/>
          <p:cNvSpPr/>
          <p:nvPr/>
        </p:nvSpPr>
        <p:spPr>
          <a:xfrm>
            <a:off x="320040" y="3645360"/>
            <a:ext cx="640080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028090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Card4Accent"/>
          <p:cNvSpPr/>
          <p:nvPr/>
        </p:nvSpPr>
        <p:spPr>
          <a:xfrm>
            <a:off x="320040" y="3645360"/>
            <a:ext cx="685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Card4Text"/>
          <p:cNvSpPr/>
          <p:nvPr/>
        </p:nvSpPr>
        <p:spPr>
          <a:xfrm>
            <a:off x="480120" y="3645360"/>
            <a:ext cx="6240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JWT 확인으로 실시간 보안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4389120"/>
            <a:ext cx="3200400" cy="91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199</Words>
  <Application>Microsoft Office PowerPoint</Application>
  <PresentationFormat>On-screen Show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Segoe WPC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SSI ZKP 시스템 상호작용 흐름</dc:title>
  <dc:subject>PptxGenJS Presentation</dc:subject>
  <dc:creator>PptxGenJS</dc:creator>
  <cp:lastModifiedBy>bingo cvm3</cp:lastModifiedBy>
  <cp:revision>17</cp:revision>
  <dcterms:created xsi:type="dcterms:W3CDTF">2026-05-15T04:39:01Z</dcterms:created>
  <dcterms:modified xsi:type="dcterms:W3CDTF">2026-05-19T01:41:06Z</dcterms:modified>
</cp:coreProperties>
</file>